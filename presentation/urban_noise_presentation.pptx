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545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B2545"/>
                </a:solidFill>
                <a:latin typeface="Arial"/>
              </a:rPr>
              <a:t>Model Accuracy Comparison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3A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Random Forest</c:v>
                  </c:pt>
                  <c:pt idx="1">
                    <c:v>SVM</c:v>
                  </c:pt>
                  <c:pt idx="2">
                    <c:v>CNN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91.4</c:v>
                </c:pt>
                <c:pt idx="1">
                  <c:v>88.6</c:v>
                </c:pt>
                <c:pt idx="2">
                  <c:v>97.1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8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6400800" y="548640"/>
            <a:ext cx="2377440" cy="2377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548640"/>
            <a:ext cx="5760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Noise Monitoring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Classification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365760" y="22402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and Deep Learning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65760" y="2834640"/>
            <a:ext cx="5029200" cy="365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2971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Najma Nour  •  Maryam Alblooshi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3291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 University Dubai, UAE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3611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by: Prof. Khalid Elgazzar  |  Ontario Tech University, Canada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4160520"/>
            <a:ext cx="1554480" cy="320040"/>
          </a:xfrm>
          <a:prstGeom prst="roundRect">
            <a:avLst>
              <a:gd name="adj" fmla="val 28571"/>
            </a:avLst>
          </a:prstGeom>
          <a:solidFill>
            <a:srgbClr val="1B3A6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4160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UrbanSound8K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057400" y="4160520"/>
            <a:ext cx="1554480" cy="320040"/>
          </a:xfrm>
          <a:prstGeom prst="roundRect">
            <a:avLst>
              <a:gd name="adj" fmla="val 28571"/>
            </a:avLst>
          </a:prstGeom>
          <a:solidFill>
            <a:srgbClr val="1B3A6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57400" y="4160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749040" y="4160520"/>
            <a:ext cx="1554480" cy="320040"/>
          </a:xfrm>
          <a:prstGeom prst="roundRect">
            <a:avLst>
              <a:gd name="adj" fmla="val 28571"/>
            </a:avLst>
          </a:prstGeom>
          <a:solidFill>
            <a:srgbClr val="1B3A6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749040" y="4160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40680" y="4160520"/>
            <a:ext cx="1554480" cy="320040"/>
          </a:xfrm>
          <a:prstGeom prst="roundRect">
            <a:avLst>
              <a:gd name="adj" fmla="val 28571"/>
            </a:avLst>
          </a:prstGeom>
          <a:solidFill>
            <a:srgbClr val="1B3A6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40680" y="4160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132320" y="4160520"/>
            <a:ext cx="1554480" cy="320040"/>
          </a:xfrm>
          <a:prstGeom prst="roundRect">
            <a:avLst>
              <a:gd name="adj" fmla="val 28571"/>
            </a:avLst>
          </a:prstGeom>
          <a:solidFill>
            <a:srgbClr val="1B3A6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32320" y="4160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2651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37160" y="31546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noise pollution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threatens public health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smart city management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200400" y="2286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3200400" y="914400"/>
            <a:ext cx="5577840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291840" y="96012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dB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Long-term exposure above this WHO threshold</a:t>
            </a:r>
            <a:endParaRPr lang="en-US" sz="280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contributes to cardiovascular disease, sleep</a:t>
            </a:r>
            <a:endParaRPr lang="en-US" sz="280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disturbance &amp; cognitive impairment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3200400" y="2011680"/>
            <a:ext cx="5577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21945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94760" y="20848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Gap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794760" y="239572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sensors measure broadband SPL but cannot identify individual noise source types.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200400" y="2971800"/>
            <a:ext cx="5577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315468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794760" y="30449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Need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794760" y="335584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source classification enables targeted mitigation and evidence-based urban planning.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3200400" y="3931920"/>
            <a:ext cx="5577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4114800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794760" y="40050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Solution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3794760" y="431596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approaches automate urban sound classification — from classical RF/SVM to deep CNN architectures.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UrbanSound8K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74320" y="1097280"/>
            <a:ext cx="1965960" cy="1005840"/>
          </a:xfrm>
          <a:prstGeom prst="rect">
            <a:avLst/>
          </a:prstGeom>
          <a:solidFill>
            <a:srgbClr val="0B254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74320" y="11430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8,732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274320" y="166420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Audio Clips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468880" y="1097280"/>
            <a:ext cx="1965960" cy="1005840"/>
          </a:xfrm>
          <a:prstGeom prst="rect">
            <a:avLst/>
          </a:prstGeom>
          <a:solidFill>
            <a:srgbClr val="0B254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468880" y="11430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2468880" y="166420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Classes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63440" y="1097280"/>
            <a:ext cx="1965960" cy="1005840"/>
          </a:xfrm>
          <a:prstGeom prst="rect">
            <a:avLst/>
          </a:prstGeom>
          <a:solidFill>
            <a:srgbClr val="0B254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663440" y="11430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4663440" y="166420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Selected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858000" y="1097280"/>
            <a:ext cx="1965960" cy="1005840"/>
          </a:xfrm>
          <a:prstGeom prst="rect">
            <a:avLst/>
          </a:prstGeom>
          <a:solidFill>
            <a:srgbClr val="0B254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858000" y="11430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6858000" y="166420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Samples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74320" y="228600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74320" y="2286000"/>
            <a:ext cx="27432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4320" y="2286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Horn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65760" y="26517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sharp tonal bursts. Common in traffic-dense urban areas.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200400" y="228600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200400" y="2286000"/>
            <a:ext cx="2743200" cy="3200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0" y="2286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Jackhammer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291840" y="26517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Broad-band impulsive noise. Highly distinctive spectral signature.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126480" y="228600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126480" y="2286000"/>
            <a:ext cx="274320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126480" y="2286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Siren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217920" y="26517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Frequency-modulated tones. Can overlap spectrally with car horns.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274320" y="3749040"/>
            <a:ext cx="8595360" cy="1051560"/>
          </a:xfrm>
          <a:prstGeom prst="rect">
            <a:avLst/>
          </a:prstGeom>
          <a:solidFill>
            <a:srgbClr val="0B254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41148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 &amp; Reproducibility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11480" y="420624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 samples (80%)   </a:t>
            </a:r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samples (20%)   </a:t>
            </a:r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 •  Stratified random sampling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74320" y="109728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0B254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74320" y="109728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Signal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(Input)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1783080" y="1444752"/>
            <a:ext cx="210312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93392" y="109728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1B3A6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993392" y="109728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(Librosa)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502152" y="1444752"/>
            <a:ext cx="210312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12464" y="109728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712464" y="109728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221224" y="1444752"/>
            <a:ext cx="210312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31536" y="109728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431536" y="109728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940296" y="1444752"/>
            <a:ext cx="210312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50608" y="109728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0B7A7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150608" y="109728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Results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74320" y="2057400"/>
            <a:ext cx="40233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74320" y="2057400"/>
            <a:ext cx="4023360" cy="3657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2057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47472" y="2542032"/>
            <a:ext cx="502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7472" y="254203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/ SVM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365760" y="2816352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23-D Handcrafted Vector: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 MFCC coefficients (mean over time)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Chroma (pitch-class distribution)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Spectral Centroid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Spectral Rolloff (85th-percentile)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Standardized: zero mean, unit variance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47472" y="3730752"/>
            <a:ext cx="502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7472" y="373075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760" y="4005072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Mel-Spectrogram: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128 mel filter banks → dB scale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Per-instance normalized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128 × 64 frames (zero-padded)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434840" y="2057400"/>
            <a:ext cx="443484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434840" y="2057400"/>
            <a:ext cx="4434840" cy="3657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434840" y="205740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Models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507992" y="2542032"/>
            <a:ext cx="4251960" cy="685800"/>
          </a:xfrm>
          <a:prstGeom prst="rect">
            <a:avLst/>
          </a:prstGeom>
          <a:solidFill>
            <a:srgbClr val="EBF4F8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507992" y="2542032"/>
            <a:ext cx="9144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663440" y="25877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663440" y="286207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trees · max depth 20 · min split 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bagging for variance reduction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4507992" y="3319272"/>
            <a:ext cx="4251960" cy="685800"/>
          </a:xfrm>
          <a:prstGeom prst="rect">
            <a:avLst/>
          </a:prstGeom>
          <a:solidFill>
            <a:srgbClr val="EB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507992" y="3319272"/>
            <a:ext cx="9144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663440" y="33649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4663440" y="363931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 kernel · C=10 · γ=scale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features to high-dim space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507992" y="4096512"/>
            <a:ext cx="4251960" cy="685800"/>
          </a:xfrm>
          <a:prstGeom prst="rect">
            <a:avLst/>
          </a:prstGeom>
          <a:solidFill>
            <a:srgbClr val="EBF4F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507992" y="4096512"/>
            <a:ext cx="9144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663440" y="41422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4663440" y="44165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Conv2D(16,32 filters) → MaxPool → Dense(64)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dropout · Adam · 8 epochs · batch 32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2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09728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532120" y="1097280"/>
            <a:ext cx="33375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532120" y="1097280"/>
            <a:ext cx="10972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715000" y="1188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97.1%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7132320" y="1188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132320" y="1554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Performer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5532120" y="2258568"/>
            <a:ext cx="33375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532120" y="2258568"/>
            <a:ext cx="109728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715000" y="23500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91.4%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7132320" y="23500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132320" y="2715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/ Edge-Ready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532120" y="3419856"/>
            <a:ext cx="33375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532120" y="3419856"/>
            <a:ext cx="109728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715000" y="351129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88.6%</a:t>
            </a:r>
            <a:endParaRPr lang="en-US" sz="3000" dirty="0"/>
          </a:p>
        </p:txBody>
      </p:sp>
      <p:sp>
        <p:nvSpPr>
          <p:cNvPr id="20" name="Text 16"/>
          <p:cNvSpPr/>
          <p:nvPr/>
        </p:nvSpPr>
        <p:spPr>
          <a:xfrm>
            <a:off x="7132320" y="351129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7132320" y="38770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Overlap Sensitivity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5532120" y="4526280"/>
            <a:ext cx="333756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577840" y="454456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outperforms classical models by 5.7–8.5 percentage points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Performance &amp; Analysis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274320" y="1097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Summary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08760"/>
          <a:ext cx="4114800" cy="914400"/>
        </p:xfrm>
        <a:graphic>
          <a:graphicData uri="http://schemas.openxmlformats.org/drawingml/2006/table">
            <a:tbl>
              <a:tblPr/>
              <a:tblGrid>
                <a:gridCol w="1028700"/>
                <a:gridCol w="1028700"/>
                <a:gridCol w="1028700"/>
                <a:gridCol w="102870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 Horn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Jackhammer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Siren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Avg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8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663440" y="1097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663440" y="150876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64208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257800" y="156362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Jackhammer — Easiest to classify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5257800" y="18745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distinctive broadband spectral characteristics yield the highest recall across all three models.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4663440" y="237744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532888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57800" y="243230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Siren vs. Car Horn — Hardest pair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5257800" y="27432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similarity causes most misclassifications, especially in SVM which is sensitive to class overlap.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4663440" y="324612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401568"/>
            <a:ext cx="411480" cy="4114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257800" y="330098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— Superior across all classes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5257800" y="361188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representation learning from mel-spectrograms outperforms handcrafted features for every class.</a:t>
            </a:r>
            <a:endParaRPr lang="en-US" sz="950" dirty="0"/>
          </a:p>
        </p:txBody>
      </p:sp>
      <p:sp>
        <p:nvSpPr>
          <p:cNvPr id="21" name="Shape 14"/>
          <p:cNvSpPr/>
          <p:nvPr/>
        </p:nvSpPr>
        <p:spPr>
          <a:xfrm>
            <a:off x="4663440" y="411480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270248"/>
            <a:ext cx="411480" cy="41148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257800" y="416966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— Best classical alternative</a:t>
            </a:r>
            <a:endParaRPr lang="en-US" sz="1100" dirty="0"/>
          </a:p>
        </p:txBody>
      </p:sp>
      <p:sp>
        <p:nvSpPr>
          <p:cNvPr id="24" name="Text 16"/>
          <p:cNvSpPr/>
          <p:nvPr/>
        </p:nvSpPr>
        <p:spPr>
          <a:xfrm>
            <a:off x="5257800" y="44805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of 0.92 with hybrid features; suitable for resource-constrained edge deployment.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7132320" y="45720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743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64008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097280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97280" y="1143000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achieves 97.1% accuracy — highest performance through deep representation learning from mel-spectrograms.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1847088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8470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97280" y="1892808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(91.4%) provides a strong edge-ready alternative with hybrid handcrafted features.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596896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25968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97280" y="2642616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(88.6%) is competitive but sensitive to spectral overlap between siren and car horn classes.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3346704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33467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97280" y="3392424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Jackhammer is easiest to classify; siren/car horn pairs are most prone to misclassification.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4096512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4096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097280" y="4142232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may reflect limited-data overfitting — future work: full dataset + data augmentation.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46177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{20250008051, 20260008155}@students.cud.ac.ae  |  Khalid.Elgazzar@ontariotechu.ca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Urban Noise Monitoring and Classification Using ML and DL</dc:title>
  <dc:subject>PptxGenJS Presentation</dc:subject>
  <dc:creator>PptxGenJS</dc:creator>
  <cp:lastModifiedBy>PptxGenJS</cp:lastModifiedBy>
  <cp:revision>1</cp:revision>
  <dcterms:created xsi:type="dcterms:W3CDTF">2026-05-12T05:47:10Z</dcterms:created>
  <dcterms:modified xsi:type="dcterms:W3CDTF">2026-05-12T05:47:10Z</dcterms:modified>
</cp:coreProperties>
</file>